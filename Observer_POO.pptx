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2" r:id="rId4"/>
    <p:sldId id="259" r:id="rId5"/>
    <p:sldId id="274" r:id="rId6"/>
    <p:sldId id="260" r:id="rId7"/>
    <p:sldId id="261" r:id="rId8"/>
    <p:sldId id="262" r:id="rId9"/>
    <p:sldId id="273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B40E4-A6E8-44A4-824D-8A795FF835F8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AC06B-D306-48D2-BDC4-58F8A2566A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2300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AC06B-D306-48D2-BDC4-58F8A2566AC7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1361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BD144-DE4B-F97A-CFCE-215A8D80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781C23-6369-1C05-D34B-6287BC703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187C50-EBEE-80D0-0D8D-7D59D5B83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880FCA-EC0E-3EB0-2AB7-8DA5ACB6C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AC06B-D306-48D2-BDC4-58F8A2566AC7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903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3A2C-0717-503B-BC92-BA7674DF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2AF2F8-4112-469D-6B25-6CDF326D9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6EA075-3B50-1DB6-9862-8A0489E84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15F86B-A871-9172-6A8E-F500C2066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AC06B-D306-48D2-BDC4-58F8A2566AC7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6793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1CD0C-2133-1BEB-B1D0-2B5BA87B0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66585A-B9A6-1153-1B3F-631F77B9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C95B5-498E-3803-3AB8-D8181146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CE6B0-210F-8232-7203-DEA42DC0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824E0D-E6C8-44AF-E902-56158D2A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95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D6C11-2F68-0AA4-5D2D-B5D81CA2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A774E-F425-9451-2AD3-69C4CA34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D38164-B509-50D7-F133-B0D241A2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201D6-698C-F87A-E87B-90B38865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D4390E-5080-AE27-848F-DE99B7E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99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1F43B-6F90-3C9A-721D-847746D8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2805D2-D47A-E1C0-302A-7BB9D046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1E4870-6C61-F8D6-F30F-159BDEB9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712B1C-6462-CA09-DD85-B9A01082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22A97A-0F17-7FD2-212C-3029940C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71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161EC-0316-6F85-1E61-6DBCB402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D347F2-FC82-C076-01DE-0936CFC48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0F09E2-86C5-D68C-6770-CC9276E30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5216C7-A653-7989-EBE3-82E43695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0FA8D9-DD0C-08C2-5C81-28054EF0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9524B-2360-C1E7-0478-D6A0D2AE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8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8BE79-344B-3711-264F-57C7E63A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CC3AA-8215-056C-2A41-E56566F9C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211A87-89E2-5D25-B2ED-57078C2B6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E39C36-017C-3060-41E0-299B3450A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890FD3-2935-8032-0EB3-1FC3B8C2E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CADFA3-E82F-0317-AD8F-8D23EC41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88C78A-5B6C-10FA-EDF0-695E7063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B40355-4549-A31B-969F-3574C6ED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1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ED56A-4167-233A-B17A-4EA99DEA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0ECB5D-9483-99FF-8340-A5AFB86E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DB8DE2-7185-0915-7BC7-2E69A4AC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A605D0-CE9B-9FAD-2423-243602F2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95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A0CC1B-120C-0F49-D36D-BAEA60A7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8C13FED-D615-8DC2-101D-1DF2E4E4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1C7337-BFDB-B02E-ABB0-E5F83488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1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E25C8-728A-6BA2-6934-E8192C5A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3D7EC-3401-B428-49CE-0A834F813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0D5D9E-91E8-3A0F-1BBA-D22CF9A40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1744F7-4977-D716-D08F-2D943793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CF612-0764-A237-6897-F8915658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E1CE97-CEF7-7A2A-C0E7-BF3ECF1B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514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BF6FF-9D40-4E22-423A-24BCED9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AE2320-1EF8-003E-2F6F-991A9E8BE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8EBBEE-3BC4-8972-A192-830C1E66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28B12D-1D38-E41C-6803-3FE1E40E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3D7CE7-FABD-36B4-343A-099F0634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4B1085-6A7E-F994-332B-F9D4ED7A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46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D6CD1-97A6-41D4-28AA-B32F657D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EF27E2-E27E-149C-BC2C-E16CF5B6A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5D596B-F08E-D8DC-3217-046FC789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465918-6A68-CE14-D808-1B90E20C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D175A-B95F-2937-C436-441D1C53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542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52D2DB-EFA7-98E3-90EE-8EB3AA390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46938F-F1E8-0110-3C15-B607291B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93203-DCE5-F0FB-F797-60563B5B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442C7-77F8-3A9E-4D25-ED66E61F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383B7-3672-B332-2E2D-96ABBFE5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844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5E03C0-4FF8-9B66-804E-9DB25FA2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E8E20-C9F3-92B2-BB3C-35445007D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CDC47-BF3C-C07C-BF61-73B5ECC9B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BD969-ED41-AF96-E758-7B89E1583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A31B0-02B2-5B64-BD04-BA5B0FF61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31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7BFA4CA-B9E0-46E2-7D90-68EC6C9199D2}"/>
              </a:ext>
            </a:extLst>
          </p:cNvPr>
          <p:cNvSpPr txBox="1"/>
          <p:nvPr/>
        </p:nvSpPr>
        <p:spPr>
          <a:xfrm>
            <a:off x="5902037" y="2699542"/>
            <a:ext cx="564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300" b="1" dirty="0">
                <a:solidFill>
                  <a:srgbClr val="125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PATRÓN OBSERVER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20E6A6-0A78-F7F3-8D6A-6DF0810D021B}"/>
              </a:ext>
            </a:extLst>
          </p:cNvPr>
          <p:cNvSpPr txBox="1"/>
          <p:nvPr/>
        </p:nvSpPr>
        <p:spPr>
          <a:xfrm>
            <a:off x="5945910" y="3348778"/>
            <a:ext cx="3343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100" dirty="0">
                <a:solidFill>
                  <a:srgbClr val="143E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Notificar cambios sin acoplar objetos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7778F3-8D27-7038-9A7B-DC089F793344}"/>
              </a:ext>
            </a:extLst>
          </p:cNvPr>
          <p:cNvSpPr txBox="1"/>
          <p:nvPr/>
        </p:nvSpPr>
        <p:spPr>
          <a:xfrm>
            <a:off x="3689929" y="6075218"/>
            <a:ext cx="7855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i="1" dirty="0">
                <a:solidFill>
                  <a:srgbClr val="125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Tomás </a:t>
            </a:r>
            <a:r>
              <a:rPr lang="es-CO" sz="1400" i="1" dirty="0" err="1">
                <a:solidFill>
                  <a:srgbClr val="125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Rodriguez</a:t>
            </a:r>
            <a:r>
              <a:rPr lang="es-CO" sz="1400" i="1" dirty="0">
                <a:solidFill>
                  <a:srgbClr val="125B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Simón Rendon | Ingeniería de Sistemas · POO</a:t>
            </a:r>
          </a:p>
        </p:txBody>
      </p:sp>
    </p:spTree>
    <p:extLst>
      <p:ext uri="{BB962C8B-B14F-4D97-AF65-F5344CB8AC3E}">
        <p14:creationId xmlns:p14="http://schemas.microsoft.com/office/powerpoint/2010/main" val="25936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74F5076D-422E-F0CA-C1A7-C6CB6F324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" y="708660"/>
            <a:ext cx="101498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MX" sz="4000" b="1" i="0" dirty="0">
                <a:solidFill>
                  <a:srgbClr val="125B2D"/>
                </a:solidFill>
                <a:latin typeface="Arial"/>
              </a:rPr>
              <a:t>Propósito</a:t>
            </a:r>
            <a:endParaRPr sz="27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2297927"/>
            <a:ext cx="3773228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CO" sz="2000" b="1" dirty="0" err="1">
                <a:solidFill>
                  <a:schemeClr val="accent3">
                    <a:lumMod val="75000"/>
                  </a:schemeClr>
                </a:solidFill>
              </a:rPr>
              <a:t>Observer</a:t>
            </a:r>
            <a:r>
              <a:rPr lang="es-CO" sz="2000" dirty="0">
                <a:solidFill>
                  <a:schemeClr val="accent3">
                    <a:lumMod val="75000"/>
                  </a:schemeClr>
                </a:solidFill>
              </a:rPr>
              <a:t> es un patrón de diseño de </a:t>
            </a:r>
            <a:r>
              <a:rPr lang="es-CO" sz="20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comportamiento.</a:t>
            </a:r>
          </a:p>
          <a:p>
            <a:endParaRPr lang="es-CO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000" dirty="0">
                <a:solidFill>
                  <a:schemeClr val="accent3">
                    <a:lumMod val="75000"/>
                  </a:schemeClr>
                </a:solidFill>
              </a:rPr>
              <a:t>Permite definir un mecanismo de suscripción para notificar a varios objetos sobre cualquier evento que le suceda al objeto que están observando.</a:t>
            </a:r>
            <a:endParaRPr sz="2400" b="1" i="0" dirty="0">
              <a:solidFill>
                <a:schemeClr val="accent3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34044" y="2532836"/>
            <a:ext cx="131143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rial"/>
              </a:rPr>
              <a:t>PRODUCTO</a:t>
            </a:r>
            <a:endParaRPr sz="10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9BD241F7-B7A2-9A65-ED25-48C4DBD5C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409" y="1767536"/>
            <a:ext cx="6157494" cy="4168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9B6B-9981-41BE-75FE-1358A3A1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C9A0EF67-CD8A-122F-73DF-C3CEC4F84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B1DA9A-03FE-6A34-1E15-34C6E9A28053}"/>
              </a:ext>
            </a:extLst>
          </p:cNvPr>
          <p:cNvSpPr txBox="1"/>
          <p:nvPr/>
        </p:nvSpPr>
        <p:spPr>
          <a:xfrm>
            <a:off x="621792" y="70866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5B2D"/>
                </a:solidFill>
                <a:latin typeface="Arial"/>
              </a:rPr>
              <a:t>¿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Qué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problema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resuelve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Observer?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51499-2D4F-1326-01AF-5E82C50BC3A7}"/>
              </a:ext>
            </a:extLst>
          </p:cNvPr>
          <p:cNvSpPr txBox="1"/>
          <p:nvPr/>
        </p:nvSpPr>
        <p:spPr>
          <a:xfrm>
            <a:off x="621792" y="1472017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143E27"/>
                </a:solidFill>
                <a:latin typeface="Arial"/>
              </a:rPr>
              <a:t>Un </a:t>
            </a:r>
            <a:r>
              <a:rPr sz="2000" b="1" i="0" dirty="0" err="1">
                <a:solidFill>
                  <a:srgbClr val="143E27"/>
                </a:solidFill>
                <a:latin typeface="Arial"/>
              </a:rPr>
              <a:t>objeto</a:t>
            </a:r>
            <a:r>
              <a:rPr sz="2000" b="1" i="0" dirty="0">
                <a:solidFill>
                  <a:srgbClr val="143E27"/>
                </a:solidFill>
                <a:latin typeface="Arial"/>
              </a:rPr>
              <a:t> cambia… ¿</a:t>
            </a:r>
            <a:r>
              <a:rPr sz="2000" b="1" i="0" dirty="0" err="1">
                <a:solidFill>
                  <a:srgbClr val="143E27"/>
                </a:solidFill>
                <a:latin typeface="Arial"/>
              </a:rPr>
              <a:t>cómo</a:t>
            </a:r>
            <a:r>
              <a:rPr sz="2000" b="1" i="0" dirty="0">
                <a:solidFill>
                  <a:srgbClr val="143E27"/>
                </a:solidFill>
                <a:latin typeface="Arial"/>
              </a:rPr>
              <a:t> se </a:t>
            </a:r>
            <a:r>
              <a:rPr sz="2000" b="1" i="0" dirty="0" err="1">
                <a:solidFill>
                  <a:srgbClr val="143E27"/>
                </a:solidFill>
                <a:latin typeface="Arial"/>
              </a:rPr>
              <a:t>enteran</a:t>
            </a:r>
            <a:r>
              <a:rPr sz="2000" b="1" i="0" dirty="0">
                <a:solidFill>
                  <a:srgbClr val="143E27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143E27"/>
                </a:solidFill>
                <a:latin typeface="Arial"/>
              </a:rPr>
              <a:t>los</a:t>
            </a:r>
            <a:r>
              <a:rPr sz="2000" b="1" i="0" dirty="0">
                <a:solidFill>
                  <a:srgbClr val="143E27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143E27"/>
                </a:solidFill>
                <a:latin typeface="Arial"/>
              </a:rPr>
              <a:t>demás</a:t>
            </a:r>
            <a:r>
              <a:rPr sz="2000" b="1" i="0" dirty="0">
                <a:solidFill>
                  <a:srgbClr val="143E27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143E27"/>
                </a:solidFill>
                <a:latin typeface="Arial"/>
              </a:rPr>
              <a:t>objetos</a:t>
            </a:r>
            <a:r>
              <a:rPr sz="2000" b="1" i="0" dirty="0">
                <a:solidFill>
                  <a:srgbClr val="143E27"/>
                </a:solidFill>
                <a:latin typeface="Arial"/>
              </a:rPr>
              <a:t> </a:t>
            </a:r>
            <a:r>
              <a:rPr sz="2000" b="1" i="0" dirty="0" err="1">
                <a:solidFill>
                  <a:srgbClr val="143E27"/>
                </a:solidFill>
                <a:latin typeface="Arial"/>
              </a:rPr>
              <a:t>interesados</a:t>
            </a:r>
            <a:r>
              <a:rPr sz="2000" b="1" i="0" dirty="0">
                <a:solidFill>
                  <a:srgbClr val="143E27"/>
                </a:solidFill>
                <a:latin typeface="Arial"/>
              </a:rPr>
              <a:t>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17681A-75D4-0F2D-8F4B-8B8102AE20BB}"/>
              </a:ext>
            </a:extLst>
          </p:cNvPr>
          <p:cNvSpPr/>
          <p:nvPr/>
        </p:nvSpPr>
        <p:spPr>
          <a:xfrm>
            <a:off x="487681" y="2674287"/>
            <a:ext cx="4160520" cy="3429000"/>
          </a:xfrm>
          <a:prstGeom prst="roundRect">
            <a:avLst/>
          </a:prstGeom>
          <a:solidFill>
            <a:srgbClr val="FCFAF4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240247-D5A2-F9EF-9E89-7E36492A1261}"/>
              </a:ext>
            </a:extLst>
          </p:cNvPr>
          <p:cNvSpPr txBox="1"/>
          <p:nvPr/>
        </p:nvSpPr>
        <p:spPr>
          <a:xfrm>
            <a:off x="832104" y="2954741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B4433C"/>
                </a:solidFill>
                <a:latin typeface="Arial"/>
              </a:rPr>
              <a:t>SIN OBSERVER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71DF4-B90D-CD7F-E2BB-6C270D095818}"/>
              </a:ext>
            </a:extLst>
          </p:cNvPr>
          <p:cNvSpPr txBox="1"/>
          <p:nvPr/>
        </p:nvSpPr>
        <p:spPr>
          <a:xfrm>
            <a:off x="854964" y="3537500"/>
            <a:ext cx="36118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dirty="0">
                <a:solidFill>
                  <a:srgbClr val="4B5550"/>
                </a:solidFill>
                <a:latin typeface="Arial"/>
              </a:rPr>
              <a:t>El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objeto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principal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tendría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que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conocer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directamente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a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cada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clase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que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necesita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reaccionar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.
→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más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dependencias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
→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más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cambios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
→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más</a:t>
            </a:r>
            <a:r>
              <a:rPr sz="17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4B5550"/>
                </a:solidFill>
                <a:latin typeface="Arial"/>
              </a:rPr>
              <a:t>acoplamiento</a:t>
            </a:r>
            <a:endParaRPr sz="1700" b="0" i="0" dirty="0">
              <a:solidFill>
                <a:srgbClr val="4B5550"/>
              </a:solidFill>
              <a:latin typeface="Arial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24A84EB-1E81-AB50-7EB0-0C44FA30C0B3}"/>
              </a:ext>
            </a:extLst>
          </p:cNvPr>
          <p:cNvSpPr txBox="1"/>
          <p:nvPr/>
        </p:nvSpPr>
        <p:spPr>
          <a:xfrm>
            <a:off x="621792" y="347472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dirty="0">
                <a:solidFill>
                  <a:srgbClr val="D3A131"/>
                </a:solidFill>
                <a:latin typeface="Arial"/>
              </a:rPr>
              <a:t>0</a:t>
            </a:r>
            <a:r>
              <a:rPr lang="es-MX" sz="1100" b="1" i="0" dirty="0">
                <a:solidFill>
                  <a:srgbClr val="D3A131"/>
                </a:solidFill>
                <a:latin typeface="Arial"/>
              </a:rPr>
              <a:t>1</a:t>
            </a:r>
            <a:r>
              <a:rPr sz="1100" b="1" i="0" dirty="0">
                <a:solidFill>
                  <a:srgbClr val="D3A131"/>
                </a:solidFill>
                <a:latin typeface="Arial"/>
              </a:rPr>
              <a:t> · </a:t>
            </a:r>
            <a:r>
              <a:rPr lang="es-MX" sz="1100" b="1" dirty="0">
                <a:solidFill>
                  <a:srgbClr val="D3A131"/>
                </a:solidFill>
                <a:latin typeface="Arial"/>
              </a:rPr>
              <a:t>INTRODUCCION</a:t>
            </a:r>
            <a:endParaRPr sz="1100" b="1" i="0" dirty="0">
              <a:solidFill>
                <a:srgbClr val="D3A131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AA1977-D1B4-9A8D-83B0-EECBAEEE5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985" y="1679771"/>
            <a:ext cx="7382187" cy="444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6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A4372A7E-059C-E3DC-50A3-59832BFAA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3474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dirty="0">
                <a:solidFill>
                  <a:srgbClr val="D3A131"/>
                </a:solidFill>
                <a:latin typeface="Arial"/>
              </a:rPr>
              <a:t>02 · CONCEPTO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157" y="769152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5B2D"/>
                </a:solidFill>
                <a:latin typeface="Arial"/>
              </a:rPr>
              <a:t>La idea de Observer,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en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una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frase</a:t>
            </a:r>
            <a:endParaRPr sz="27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2275" y="1563625"/>
            <a:ext cx="10652760" cy="1097280"/>
          </a:xfrm>
          <a:prstGeom prst="roundRect">
            <a:avLst/>
          </a:prstGeom>
          <a:solidFill>
            <a:srgbClr val="F1F7F2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149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125B2D"/>
                </a:solidFill>
                <a:latin typeface="Arial"/>
              </a:rPr>
              <a:t>Un objeto notifica automáticamente a todos los objetos interesados cuando cambia su estado.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85896"/>
            <a:ext cx="3408254" cy="2622755"/>
          </a:xfrm>
          <a:prstGeom prst="roundRect">
            <a:avLst/>
          </a:prstGeom>
          <a:solidFill>
            <a:srgbClr val="FFFFF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56814" y="3396208"/>
            <a:ext cx="652849" cy="699401"/>
          </a:xfrm>
          <a:prstGeom prst="ellipse">
            <a:avLst/>
          </a:prstGeom>
          <a:solidFill>
            <a:srgbClr val="125B2D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146017"/>
            <a:ext cx="3216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25B2D"/>
                </a:solidFill>
                <a:latin typeface="Arial"/>
              </a:rPr>
              <a:t>SUJETO / PUBLICADOR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99" y="4584928"/>
            <a:ext cx="2880215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4B5550"/>
                </a:solidFill>
                <a:latin typeface="Arial"/>
              </a:rPr>
              <a:t>Mantiene el estado que puede cambiar y se encarga de notificar.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3185896"/>
            <a:ext cx="3408254" cy="2622755"/>
          </a:xfrm>
          <a:prstGeom prst="roundRect">
            <a:avLst/>
          </a:prstGeom>
          <a:solidFill>
            <a:srgbClr val="FFFFFF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22975" y="3396208"/>
            <a:ext cx="652849" cy="699401"/>
          </a:xfrm>
          <a:prstGeom prst="ellipse">
            <a:avLst/>
          </a:prstGeom>
          <a:solidFill>
            <a:srgbClr val="D3A131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4146017"/>
            <a:ext cx="3216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D3A131"/>
                </a:solidFill>
                <a:latin typeface="Arial"/>
              </a:rPr>
              <a:t>OBSERVADORES / SUSCRIPTORES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584928"/>
            <a:ext cx="2880215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4B5550"/>
                </a:solidFill>
                <a:latin typeface="Arial"/>
              </a:rPr>
              <a:t>Se suscriben y reaccionan cuando reciben la notificación.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185896"/>
            <a:ext cx="3408254" cy="2622755"/>
          </a:xfrm>
          <a:prstGeom prst="roundRect">
            <a:avLst/>
          </a:prstGeom>
          <a:solidFill>
            <a:srgbClr val="FFFFFF"/>
          </a:solidFill>
          <a:ln>
            <a:solidFill>
              <a:srgbClr val="143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89135" y="3396208"/>
            <a:ext cx="652849" cy="699401"/>
          </a:xfrm>
          <a:prstGeom prst="ellipse">
            <a:avLst/>
          </a:prstGeom>
          <a:solidFill>
            <a:srgbClr val="143E27"/>
          </a:solidFill>
          <a:ln>
            <a:solidFill>
              <a:srgbClr val="143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7" y="4146017"/>
            <a:ext cx="32162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43E27"/>
                </a:solidFill>
                <a:latin typeface="Arial"/>
              </a:rPr>
              <a:t>SUSCRIBIR / DESUSCRIBIR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8" y="4584928"/>
            <a:ext cx="2880215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4B5550"/>
                </a:solidFill>
                <a:latin typeface="Arial"/>
              </a:rPr>
              <a:t>Entrar o salir de la lista de observadores.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17AE6-0E50-41D1-B787-68DBB1F4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0A8A8EE9-71BD-C54E-CBAA-CD76B1FC4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E0D80F26-4747-EB48-4561-38DFBB75728E}"/>
              </a:ext>
            </a:extLst>
          </p:cNvPr>
          <p:cNvSpPr txBox="1"/>
          <p:nvPr/>
        </p:nvSpPr>
        <p:spPr>
          <a:xfrm>
            <a:off x="1521575" y="5593526"/>
            <a:ext cx="4574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notificador notifica a los suscriptores invocando el método de notificación específico de sus objetos.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A1529398-C9F1-0B75-4372-FD09E9CCD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24" y="1996026"/>
            <a:ext cx="5629889" cy="4583794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AF6725-463E-8EA6-410E-13044FE78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308096"/>
            <a:ext cx="6829099" cy="2696619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74FC97C5-19EA-CFB2-C894-71DA0B91C149}"/>
              </a:ext>
            </a:extLst>
          </p:cNvPr>
          <p:cNvSpPr txBox="1"/>
          <p:nvPr/>
        </p:nvSpPr>
        <p:spPr>
          <a:xfrm>
            <a:off x="913570" y="4100949"/>
            <a:ext cx="47720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mecanismo de suscripción permite a los objetos individuales suscribirse a notificaciones de eventos.</a:t>
            </a:r>
          </a:p>
        </p:txBody>
      </p:sp>
      <p:pic>
        <p:nvPicPr>
          <p:cNvPr id="32" name="Imagen 31" descr="Más de 1 000 vectores de Flecha y Flecha Verde gratis - Pixabay">
            <a:extLst>
              <a:ext uri="{FF2B5EF4-FFF2-40B4-BE49-F238E27FC236}">
                <a16:creationId xmlns:a16="http://schemas.microsoft.com/office/drawing/2014/main" id="{57A0B8F3-B917-648C-671C-4460B7762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73544">
            <a:off x="5816822" y="5478884"/>
            <a:ext cx="646331" cy="646331"/>
          </a:xfrm>
          <a:prstGeom prst="rect">
            <a:avLst/>
          </a:prstGeom>
        </p:spPr>
      </p:pic>
      <p:pic>
        <p:nvPicPr>
          <p:cNvPr id="33" name="Imagen 32" descr="Más de 1 000 vectores de Flecha y Flecha Verde gratis - Pixabay">
            <a:extLst>
              <a:ext uri="{FF2B5EF4-FFF2-40B4-BE49-F238E27FC236}">
                <a16:creationId xmlns:a16="http://schemas.microsoft.com/office/drawing/2014/main" id="{12A21CF2-5982-D4B8-B77B-A517976FD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 flipH="1">
            <a:off x="1393756" y="3181822"/>
            <a:ext cx="662853" cy="66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5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97355B8-22E7-44FF-6E93-35106045E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3474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3A131"/>
                </a:solidFill>
                <a:latin typeface="Arial"/>
              </a:rPr>
              <a:t>03 · ANALOGÍA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135" y="832054"/>
            <a:ext cx="1014984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MX" sz="2700" b="1" dirty="0">
                <a:solidFill>
                  <a:srgbClr val="125B2D"/>
                </a:solidFill>
                <a:latin typeface="Arial"/>
              </a:rPr>
              <a:t>S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uscripción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de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noticias</a:t>
            </a:r>
            <a:endParaRPr sz="27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1627533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 dirty="0">
                <a:solidFill>
                  <a:srgbClr val="4B5550"/>
                </a:solidFill>
                <a:latin typeface="Arial"/>
              </a:rPr>
              <a:t>No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revisas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 el sitio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cada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minuto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: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te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suscribes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 y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recibes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 el aviso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cuando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 hay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una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900" b="0" i="0" dirty="0" err="1">
                <a:solidFill>
                  <a:srgbClr val="4B5550"/>
                </a:solidFill>
                <a:latin typeface="Arial"/>
              </a:rPr>
              <a:t>novedad</a:t>
            </a:r>
            <a:r>
              <a:rPr sz="1900" b="0" i="0" dirty="0">
                <a:solidFill>
                  <a:srgbClr val="4B5550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3047" y="2532789"/>
            <a:ext cx="2788920" cy="2148840"/>
          </a:xfrm>
          <a:prstGeom prst="roundRect">
            <a:avLst/>
          </a:prstGeom>
          <a:solidFill>
            <a:srgbClr val="F8F6EF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3359" y="2743101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25B2D"/>
                </a:solidFill>
                <a:latin typeface="Arial"/>
              </a:rPr>
              <a:t>📰  PUBLICADOR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4799" y="3264309"/>
            <a:ext cx="2194560" cy="109728"/>
          </a:xfrm>
          <a:prstGeom prst="rect">
            <a:avLst/>
          </a:prstGeom>
          <a:solidFill>
            <a:srgbClr val="708477"/>
          </a:solidFill>
          <a:ln>
            <a:solidFill>
              <a:srgbClr val="70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24799" y="3584349"/>
            <a:ext cx="2194560" cy="109728"/>
          </a:xfrm>
          <a:prstGeom prst="rect">
            <a:avLst/>
          </a:prstGeom>
          <a:solidFill>
            <a:srgbClr val="708477"/>
          </a:solidFill>
          <a:ln>
            <a:solidFill>
              <a:srgbClr val="70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24799" y="3904389"/>
            <a:ext cx="2194560" cy="109728"/>
          </a:xfrm>
          <a:prstGeom prst="rect">
            <a:avLst/>
          </a:prstGeom>
          <a:solidFill>
            <a:srgbClr val="708477"/>
          </a:solidFill>
          <a:ln>
            <a:solidFill>
              <a:srgbClr val="70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09247" y="2761389"/>
            <a:ext cx="749808" cy="749808"/>
          </a:xfrm>
          <a:prstGeom prst="ellipse">
            <a:avLst/>
          </a:prstGeom>
          <a:solidFill>
            <a:srgbClr val="125B2D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09247" y="2971701"/>
            <a:ext cx="749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647" y="3648357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43E27"/>
                </a:solidFill>
                <a:latin typeface="Arial"/>
              </a:rPr>
              <a:t>Tomás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811967" y="3136293"/>
            <a:ext cx="1097280" cy="265176"/>
          </a:xfrm>
          <a:prstGeom prst="line">
            <a:avLst/>
          </a:prstGeom>
          <a:ln w="25400">
            <a:solidFill>
              <a:srgbClr val="125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66647" y="2761389"/>
            <a:ext cx="749808" cy="749808"/>
          </a:xfrm>
          <a:prstGeom prst="ellipse">
            <a:avLst/>
          </a:prstGeom>
          <a:solidFill>
            <a:srgbClr val="125B2D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66647" y="2971701"/>
            <a:ext cx="749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8047" y="3648357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43E27"/>
                </a:solidFill>
                <a:latin typeface="Arial"/>
              </a:rPr>
              <a:t>Simón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811967" y="3136293"/>
            <a:ext cx="3154680" cy="265176"/>
          </a:xfrm>
          <a:prstGeom prst="line">
            <a:avLst/>
          </a:prstGeom>
          <a:ln w="25400">
            <a:solidFill>
              <a:srgbClr val="125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024047" y="2761389"/>
            <a:ext cx="749808" cy="749808"/>
          </a:xfrm>
          <a:prstGeom prst="ellipse">
            <a:avLst/>
          </a:prstGeom>
          <a:solidFill>
            <a:srgbClr val="D3A131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4047" y="2971701"/>
            <a:ext cx="749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5447" y="3648357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43E27"/>
                </a:solidFill>
                <a:latin typeface="Arial"/>
              </a:rPr>
              <a:t>Aplicación móvil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811967" y="3136293"/>
            <a:ext cx="5212080" cy="265176"/>
          </a:xfrm>
          <a:prstGeom prst="line">
            <a:avLst/>
          </a:prstGeom>
          <a:ln w="25400">
            <a:solidFill>
              <a:srgbClr val="125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06327" y="4498748"/>
            <a:ext cx="594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143E27"/>
                </a:solidFill>
                <a:latin typeface="Arial"/>
              </a:rPr>
              <a:t>En código es lo mismo:
Publicador → evento → Suscriptores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129F4A54-20D8-9B12-2A08-331782660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3474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3A131"/>
                </a:solidFill>
                <a:latin typeface="Arial"/>
              </a:rPr>
              <a:t>04 · 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25B2D"/>
                </a:solidFill>
                <a:latin typeface="Arial"/>
              </a:rPr>
              <a:t>¿De qué piezas está compuesto?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4458" y="2048256"/>
            <a:ext cx="2743200" cy="3200400"/>
          </a:xfrm>
          <a:prstGeom prst="roundRect">
            <a:avLst/>
          </a:prstGeom>
          <a:solidFill>
            <a:srgbClr val="EDF5E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3058" y="232257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25B2D"/>
                </a:solidFill>
                <a:latin typeface="Arial"/>
              </a:rPr>
              <a:t>PUBLICADOR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4498" y="2916936"/>
            <a:ext cx="21031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5938" y="299923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4B5550"/>
                </a:solidFill>
                <a:latin typeface="Arial"/>
              </a:rPr>
              <a:t>Lista de observadores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4498" y="3392424"/>
            <a:ext cx="21031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5938" y="347472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4B5550"/>
                </a:solidFill>
                <a:latin typeface="Arial"/>
              </a:rPr>
              <a:t>Suscribir()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498" y="3867912"/>
            <a:ext cx="21031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5938" y="395020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4B5550"/>
                </a:solidFill>
                <a:latin typeface="Arial"/>
              </a:rPr>
              <a:t>Desuscribir()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4498" y="4343400"/>
            <a:ext cx="21031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5938" y="442569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4B5550"/>
                </a:solidFill>
                <a:latin typeface="Arial"/>
              </a:rPr>
              <a:t>Notificar()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6297" y="2414016"/>
            <a:ext cx="2423160" cy="2331720"/>
          </a:xfrm>
          <a:prstGeom prst="roundRect">
            <a:avLst/>
          </a:prstGeom>
          <a:solidFill>
            <a:srgbClr val="FCF9EF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39178" y="2706624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43E27"/>
                </a:solidFill>
                <a:latin typeface="Arial"/>
              </a:rPr>
              <a:t>OBSERVADOR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3186" y="3374136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D3A131"/>
                </a:solidFill>
                <a:latin typeface="Arial"/>
              </a:rPr>
              <a:t>Actualizar(...)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2038" y="3840479"/>
            <a:ext cx="1965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 dirty="0" err="1">
                <a:solidFill>
                  <a:srgbClr val="4B5550"/>
                </a:solidFill>
                <a:latin typeface="Arial"/>
              </a:rPr>
              <a:t>Contrato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B5550"/>
                </a:solidFill>
                <a:latin typeface="Arial"/>
              </a:rPr>
              <a:t>común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:
</a:t>
            </a:r>
            <a:r>
              <a:rPr sz="1300" b="0" i="0" dirty="0" err="1">
                <a:solidFill>
                  <a:srgbClr val="4B5550"/>
                </a:solidFill>
                <a:latin typeface="Arial"/>
              </a:rPr>
              <a:t>todos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B5550"/>
                </a:solidFill>
                <a:latin typeface="Arial"/>
              </a:rPr>
              <a:t>saben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B5550"/>
                </a:solidFill>
                <a:latin typeface="Arial"/>
              </a:rPr>
              <a:t>cómo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B5550"/>
                </a:solidFill>
                <a:latin typeface="Arial"/>
              </a:rPr>
              <a:t>recibir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B5550"/>
                </a:solidFill>
                <a:latin typeface="Arial"/>
              </a:rPr>
              <a:t>una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B5550"/>
                </a:solidFill>
                <a:latin typeface="Arial"/>
              </a:rPr>
              <a:t>notificación</a:t>
            </a:r>
            <a:r>
              <a:rPr sz="1300" b="0" i="0" dirty="0">
                <a:solidFill>
                  <a:srgbClr val="4B5550"/>
                </a:solidFill>
                <a:latin typeface="Arial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3818" y="1792224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10978" y="2048256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25B2D"/>
                </a:solidFill>
                <a:latin typeface="Arial"/>
              </a:rPr>
              <a:t>Observador de correo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479458" y="2221992"/>
            <a:ext cx="594360" cy="1362456"/>
          </a:xfrm>
          <a:prstGeom prst="line">
            <a:avLst/>
          </a:prstGeom>
          <a:ln w="22860">
            <a:solidFill>
              <a:srgbClr val="125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73818" y="3054095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10978" y="3310128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D3A131"/>
                </a:solidFill>
                <a:latin typeface="Arial"/>
              </a:rPr>
              <a:t>Observador de panel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479458" y="3483863"/>
            <a:ext cx="594360" cy="100585"/>
          </a:xfrm>
          <a:prstGeom prst="line">
            <a:avLst/>
          </a:prstGeom>
          <a:ln w="22860">
            <a:solidFill>
              <a:srgbClr val="D3A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73818" y="4315967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43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10978" y="45720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43E27"/>
                </a:solidFill>
                <a:latin typeface="Arial"/>
              </a:rPr>
              <a:t>Observador de registro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79458" y="3584448"/>
            <a:ext cx="594360" cy="1161287"/>
          </a:xfrm>
          <a:prstGeom prst="line">
            <a:avLst/>
          </a:prstGeom>
          <a:ln w="22860">
            <a:solidFill>
              <a:srgbClr val="D3A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0036" y="5650991"/>
            <a:ext cx="392159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 dirty="0">
                <a:solidFill>
                  <a:srgbClr val="143E27"/>
                </a:solidFill>
                <a:latin typeface="Arial"/>
              </a:rPr>
              <a:t>Todos </a:t>
            </a:r>
            <a:r>
              <a:rPr b="1" i="0" dirty="0" err="1">
                <a:solidFill>
                  <a:srgbClr val="143E27"/>
                </a:solidFill>
                <a:latin typeface="Arial"/>
              </a:rPr>
              <a:t>implementan</a:t>
            </a:r>
            <a:r>
              <a:rPr b="1" i="0" dirty="0">
                <a:solidFill>
                  <a:srgbClr val="143E27"/>
                </a:solidFill>
                <a:latin typeface="Arial"/>
              </a:rPr>
              <a:t> el </a:t>
            </a:r>
            <a:r>
              <a:rPr b="1" i="0" dirty="0" err="1">
                <a:solidFill>
                  <a:srgbClr val="143E27"/>
                </a:solidFill>
                <a:latin typeface="Arial"/>
              </a:rPr>
              <a:t>mismo</a:t>
            </a:r>
            <a:r>
              <a:rPr b="1" i="0" dirty="0">
                <a:solidFill>
                  <a:srgbClr val="143E27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143E27"/>
                </a:solidFill>
                <a:latin typeface="Arial"/>
              </a:rPr>
              <a:t>contrato</a:t>
            </a:r>
            <a:r>
              <a:rPr b="1" i="0" dirty="0">
                <a:solidFill>
                  <a:srgbClr val="143E27"/>
                </a:solidFill>
                <a:latin typeface="Arial"/>
              </a:rPr>
              <a:t> de </a:t>
            </a:r>
            <a:r>
              <a:rPr b="1" i="0" dirty="0" err="1">
                <a:solidFill>
                  <a:srgbClr val="143E27"/>
                </a:solidFill>
                <a:latin typeface="Arial"/>
              </a:rPr>
              <a:t>observación</a:t>
            </a:r>
            <a:r>
              <a:rPr b="1" i="0" dirty="0">
                <a:solidFill>
                  <a:srgbClr val="143E2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9C777DC8-4352-4ADD-47F6-4C9AACC7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3474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3A131"/>
                </a:solidFill>
                <a:latin typeface="Arial"/>
              </a:rPr>
              <a:t>05 · 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742"/>
            <a:ext cx="101498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dirty="0">
                <a:solidFill>
                  <a:srgbClr val="125B2D"/>
                </a:solidFill>
                <a:latin typeface="Arial"/>
              </a:rPr>
              <a:t>¿</a:t>
            </a:r>
            <a:r>
              <a:rPr sz="3200" b="1" i="0" dirty="0" err="1">
                <a:solidFill>
                  <a:srgbClr val="125B2D"/>
                </a:solidFill>
                <a:latin typeface="Arial"/>
              </a:rPr>
              <a:t>Qué</a:t>
            </a:r>
            <a:r>
              <a:rPr sz="32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125B2D"/>
                </a:solidFill>
                <a:latin typeface="Arial"/>
              </a:rPr>
              <a:t>ocurre</a:t>
            </a:r>
            <a:r>
              <a:rPr sz="32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125B2D"/>
                </a:solidFill>
                <a:latin typeface="Arial"/>
              </a:rPr>
              <a:t>cuando</a:t>
            </a:r>
            <a:r>
              <a:rPr sz="3200" b="1" i="0" dirty="0">
                <a:solidFill>
                  <a:srgbClr val="125B2D"/>
                </a:solidFill>
                <a:latin typeface="Arial"/>
              </a:rPr>
              <a:t> cambia el </a:t>
            </a:r>
            <a:r>
              <a:rPr sz="3200" b="1" i="0" dirty="0" err="1">
                <a:solidFill>
                  <a:srgbClr val="125B2D"/>
                </a:solidFill>
                <a:latin typeface="Arial"/>
              </a:rPr>
              <a:t>estado</a:t>
            </a:r>
            <a:r>
              <a:rPr sz="3200" b="1" i="0" dirty="0">
                <a:solidFill>
                  <a:srgbClr val="125B2D"/>
                </a:solidFill>
                <a:latin typeface="Arial"/>
              </a:rPr>
              <a:t>?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856232"/>
            <a:ext cx="685800" cy="685800"/>
          </a:xfrm>
          <a:prstGeom prst="ellipse">
            <a:avLst/>
          </a:prstGeom>
          <a:solidFill>
            <a:srgbClr val="125B2D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685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681"/>
            <a:ext cx="1737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125B2D"/>
                </a:solidFill>
                <a:latin typeface="Arial"/>
              </a:rPr>
              <a:t>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38" y="3273873"/>
            <a:ext cx="257129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>
                <a:solidFill>
                  <a:srgbClr val="4B5550"/>
                </a:solidFill>
                <a:latin typeface="Arial"/>
              </a:rPr>
              <a:t>El Sujeto cambia su estado.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1874520" y="2194560"/>
            <a:ext cx="1737360" cy="0"/>
          </a:xfrm>
          <a:prstGeom prst="line">
            <a:avLst/>
          </a:prstGeom>
          <a:ln w="25400">
            <a:solidFill>
              <a:srgbClr val="125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840480" y="1856232"/>
            <a:ext cx="685800" cy="685800"/>
          </a:xfrm>
          <a:prstGeom prst="ellipse">
            <a:avLst/>
          </a:prstGeom>
          <a:solidFill>
            <a:srgbClr val="D3A131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2057400"/>
            <a:ext cx="685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80681"/>
            <a:ext cx="1737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D3A131"/>
                </a:solidFill>
                <a:latin typeface="Arial"/>
              </a:rPr>
              <a:t>NOTIFICAR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19" y="3273873"/>
            <a:ext cx="257129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>
                <a:solidFill>
                  <a:srgbClr val="4B5550"/>
                </a:solidFill>
                <a:latin typeface="Arial"/>
              </a:rPr>
              <a:t>Recorre la lista de suscriptores.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4572000" y="2194560"/>
            <a:ext cx="1737360" cy="0"/>
          </a:xfrm>
          <a:prstGeom prst="line">
            <a:avLst/>
          </a:prstGeom>
          <a:ln w="25400">
            <a:solidFill>
              <a:srgbClr val="125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537960" y="1856232"/>
            <a:ext cx="685800" cy="685800"/>
          </a:xfrm>
          <a:prstGeom prst="ellipse">
            <a:avLst/>
          </a:prstGeom>
          <a:solidFill>
            <a:srgbClr val="143E27"/>
          </a:solidFill>
          <a:ln>
            <a:solidFill>
              <a:srgbClr val="143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057400"/>
            <a:ext cx="685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880681"/>
            <a:ext cx="1737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143E27"/>
                </a:solidFill>
                <a:latin typeface="Arial"/>
              </a:rPr>
              <a:t>ACTUALIZAR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4999" y="3273873"/>
            <a:ext cx="2571293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>
                <a:solidFill>
                  <a:srgbClr val="4B5550"/>
                </a:solidFill>
                <a:latin typeface="Arial"/>
              </a:rPr>
              <a:t>Cada Observador recibe la información del cambio.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7269480" y="2194560"/>
            <a:ext cx="1737360" cy="0"/>
          </a:xfrm>
          <a:prstGeom prst="line">
            <a:avLst/>
          </a:prstGeom>
          <a:ln w="25400">
            <a:solidFill>
              <a:srgbClr val="125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235440" y="1856232"/>
            <a:ext cx="685800" cy="685800"/>
          </a:xfrm>
          <a:prstGeom prst="ellipse">
            <a:avLst/>
          </a:prstGeom>
          <a:solidFill>
            <a:srgbClr val="125B2D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057400"/>
            <a:ext cx="685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880681"/>
            <a:ext cx="17373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0">
                <a:solidFill>
                  <a:srgbClr val="125B2D"/>
                </a:solidFill>
                <a:latin typeface="Arial"/>
              </a:rPr>
              <a:t>REACCIONA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3273873"/>
            <a:ext cx="257129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i="0" dirty="0">
                <a:solidFill>
                  <a:srgbClr val="4B5550"/>
                </a:solidFill>
                <a:latin typeface="Arial"/>
              </a:rPr>
              <a:t>Cada uno </a:t>
            </a:r>
            <a:r>
              <a:rPr b="0" i="0" dirty="0" err="1">
                <a:solidFill>
                  <a:srgbClr val="4B5550"/>
                </a:solidFill>
                <a:latin typeface="Arial"/>
              </a:rPr>
              <a:t>ejecuta</a:t>
            </a:r>
            <a:r>
              <a:rPr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4B5550"/>
                </a:solidFill>
                <a:latin typeface="Arial"/>
              </a:rPr>
              <a:t>su</a:t>
            </a:r>
            <a:r>
              <a:rPr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4B5550"/>
                </a:solidFill>
                <a:latin typeface="Arial"/>
              </a:rPr>
              <a:t>propia</a:t>
            </a:r>
            <a:r>
              <a:rPr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4B5550"/>
                </a:solidFill>
                <a:latin typeface="Arial"/>
              </a:rPr>
              <a:t>lógica</a:t>
            </a:r>
            <a:r>
              <a:rPr b="0" i="0" dirty="0">
                <a:solidFill>
                  <a:srgbClr val="4B5550"/>
                </a:solidFill>
                <a:latin typeface="Arial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00600"/>
            <a:ext cx="9509760" cy="731520"/>
          </a:xfrm>
          <a:prstGeom prst="roundRect">
            <a:avLst/>
          </a:prstGeom>
          <a:solidFill>
            <a:srgbClr val="1D2220"/>
          </a:solidFill>
          <a:ln>
            <a:solidFill>
              <a:srgbClr val="1D2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4910328"/>
            <a:ext cx="918057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BF2EB"/>
                </a:solidFill>
                <a:latin typeface="Consolas"/>
              </a:rPr>
              <a:t>Cambio de estado → Notificar → Actualizar → Reacción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C6632-8A42-3031-7EC9-EA268659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9C109EE1-CFCA-0659-8D1D-3DF19964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DED73-8C11-EC74-3C8B-65059C207502}"/>
              </a:ext>
            </a:extLst>
          </p:cNvPr>
          <p:cNvSpPr txBox="1"/>
          <p:nvPr/>
        </p:nvSpPr>
        <p:spPr>
          <a:xfrm>
            <a:off x="513639" y="307577"/>
            <a:ext cx="101498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MX" sz="4000" b="1" i="0" dirty="0">
                <a:solidFill>
                  <a:srgbClr val="125B2D"/>
                </a:solidFill>
                <a:latin typeface="Arial"/>
              </a:rPr>
              <a:t>Diagrama – Ejemplo</a:t>
            </a:r>
            <a:endParaRPr sz="27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66F972-A09D-1B3D-A588-B62EAD11E63C}"/>
              </a:ext>
            </a:extLst>
          </p:cNvPr>
          <p:cNvSpPr txBox="1"/>
          <p:nvPr/>
        </p:nvSpPr>
        <p:spPr>
          <a:xfrm>
            <a:off x="6134044" y="2532836"/>
            <a:ext cx="131143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rial"/>
              </a:rPr>
              <a:t>PRODUCTO</a:t>
            </a:r>
            <a:endParaRPr sz="1000" b="1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C53662-42DF-A691-DABE-D3B406037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674" y="1015463"/>
            <a:ext cx="6435813" cy="576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51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0B08B0-39DC-6F2B-AFB4-63DF57692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3474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3A131"/>
                </a:solidFill>
                <a:latin typeface="Arial"/>
              </a:rPr>
              <a:t>10 ·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 err="1">
                <a:solidFill>
                  <a:srgbClr val="125B2D"/>
                </a:solidFill>
                <a:latin typeface="Arial"/>
              </a:rPr>
              <a:t>Ventajas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y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aspectos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a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vigilar</a:t>
            </a:r>
            <a:endParaRPr sz="27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9022" y="1705374"/>
            <a:ext cx="5074920" cy="4480560"/>
          </a:xfrm>
          <a:prstGeom prst="roundRect">
            <a:avLst/>
          </a:prstGeom>
          <a:solidFill>
            <a:srgbClr val="F1F7F2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1902" y="199873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25B2D"/>
                </a:solidFill>
                <a:latin typeface="Arial"/>
              </a:rPr>
              <a:t>VENTAJAS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9062" y="2453662"/>
            <a:ext cx="4434840" cy="34778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4B5550"/>
                </a:solidFill>
                <a:latin typeface="Arial"/>
              </a:rPr>
              <a:t>• Reduce el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acoplamiento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entre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clases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•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Permite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agregar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nuevos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observadores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sin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modificar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el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Sujeto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• La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lista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de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suscriptores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puede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cambiar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en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tiempo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de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ejecución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• Cada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observador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mantiene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su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propia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reacción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2562" y="1700784"/>
            <a:ext cx="5465261" cy="4694313"/>
          </a:xfrm>
          <a:prstGeom prst="roundRect">
            <a:avLst/>
          </a:prstGeom>
          <a:solidFill>
            <a:srgbClr val="FCFAF4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319438" y="192022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D3A131"/>
                </a:solidFill>
                <a:latin typeface="Arial"/>
              </a:rPr>
              <a:t>ASPECTOS A VIGILAR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388" y="2400282"/>
            <a:ext cx="4572000" cy="3785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4B5550"/>
                </a:solidFill>
                <a:latin typeface="Arial"/>
              </a:rPr>
              <a:t>• Muchos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observadores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pueden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hacer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difícil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rastrear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quién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reacciona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• Una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notificación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puede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activar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muchas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operaciones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• Hay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que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gestionar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correctamente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la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suscripción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y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cancelación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• No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conviene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usarlo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si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no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existe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una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relación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real de “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publicar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→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reaccionar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>
            <a:extLst>
              <a:ext uri="{FF2B5EF4-FFF2-40B4-BE49-F238E27FC236}">
                <a16:creationId xmlns:a16="http://schemas.microsoft.com/office/drawing/2014/main" id="{52C5EEFC-DC89-5774-4286-D268D7D1F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3474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3A131"/>
                </a:solidFill>
                <a:latin typeface="Arial"/>
              </a:rPr>
              <a:t>11 ·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77373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125B2D"/>
                </a:solidFill>
                <a:latin typeface="Arial"/>
              </a:rPr>
              <a:t>¿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Cuándo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tiene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125B2D"/>
                </a:solidFill>
                <a:latin typeface="Arial"/>
              </a:rPr>
              <a:t>sentido</a:t>
            </a:r>
            <a:r>
              <a:rPr sz="2700" b="1" i="0" dirty="0">
                <a:solidFill>
                  <a:srgbClr val="125B2D"/>
                </a:solidFill>
                <a:latin typeface="Arial"/>
              </a:rPr>
              <a:t> usar Observer?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3608" y="1709928"/>
            <a:ext cx="5107520" cy="4526280"/>
          </a:xfrm>
          <a:prstGeom prst="roundRect">
            <a:avLst/>
          </a:prstGeom>
          <a:solidFill>
            <a:srgbClr val="EDF5EF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929640" y="1984248"/>
            <a:ext cx="455033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25B2D"/>
                </a:solidFill>
                <a:latin typeface="Arial"/>
              </a:rPr>
              <a:t>ÚSALO CUANDO…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72" y="2531309"/>
            <a:ext cx="4457472" cy="34778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4B5550"/>
                </a:solidFill>
                <a:latin typeface="Arial"/>
              </a:rPr>
              <a:t>✓ Un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cambio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en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un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objeto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requiere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reacciones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en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otros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✓ El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número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de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objetos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interesados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puede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cambiar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✓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Quieres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que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los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receptores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sean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independientes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del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Sujeto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
✓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Necesitas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suscribir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y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desuscribir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dinámicamente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709928"/>
            <a:ext cx="5061088" cy="4526280"/>
          </a:xfrm>
          <a:prstGeom prst="roundRect">
            <a:avLst/>
          </a:prstGeom>
          <a:solidFill>
            <a:srgbClr val="F9F8F5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370320" y="1984248"/>
            <a:ext cx="45039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D3A131"/>
                </a:solidFill>
                <a:latin typeface="Arial"/>
              </a:rPr>
              <a:t>EJEMPLOS</a:t>
            </a:r>
          </a:p>
        </p:txBody>
      </p:sp>
      <p:sp>
        <p:nvSpPr>
          <p:cNvPr id="11" name="Oval 10"/>
          <p:cNvSpPr/>
          <p:nvPr/>
        </p:nvSpPr>
        <p:spPr>
          <a:xfrm>
            <a:off x="6461759" y="2578608"/>
            <a:ext cx="390029" cy="384048"/>
          </a:xfrm>
          <a:prstGeom prst="ellipse">
            <a:avLst/>
          </a:prstGeom>
          <a:solidFill>
            <a:srgbClr val="D3A131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61759" y="2562546"/>
            <a:ext cx="39002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2596896"/>
            <a:ext cx="124427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 err="1">
                <a:solidFill>
                  <a:srgbClr val="143E27"/>
                </a:solidFill>
                <a:latin typeface="Arial"/>
              </a:rPr>
              <a:t>Interfaz</a:t>
            </a:r>
            <a:endParaRPr sz="2000" b="1" i="0" dirty="0">
              <a:solidFill>
                <a:srgbClr val="143E27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64032" y="2578608"/>
            <a:ext cx="269305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 err="1">
                <a:solidFill>
                  <a:srgbClr val="4B5550"/>
                </a:solidFill>
                <a:latin typeface="Arial"/>
              </a:rPr>
              <a:t>botón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→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múltiples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reacciones</a:t>
            </a:r>
            <a:endParaRPr sz="2000" b="0" i="0" dirty="0">
              <a:solidFill>
                <a:srgbClr val="4B5550"/>
              </a:solidFill>
              <a:latin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461759" y="3328416"/>
            <a:ext cx="390029" cy="384048"/>
          </a:xfrm>
          <a:prstGeom prst="ellipse">
            <a:avLst/>
          </a:prstGeom>
          <a:solidFill>
            <a:srgbClr val="D3A131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461759" y="3320385"/>
            <a:ext cx="39002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3346704"/>
            <a:ext cx="145363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 err="1">
                <a:solidFill>
                  <a:srgbClr val="143E27"/>
                </a:solidFill>
                <a:latin typeface="Arial"/>
              </a:rPr>
              <a:t>Inventario</a:t>
            </a:r>
            <a:endParaRPr sz="2000" b="1" i="0" dirty="0">
              <a:solidFill>
                <a:srgbClr val="143E27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64032" y="3316649"/>
            <a:ext cx="269305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4B5550"/>
                </a:solidFill>
                <a:latin typeface="Arial"/>
              </a:rPr>
              <a:t>stock →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alertas</a:t>
            </a:r>
            <a:endParaRPr sz="2000" b="0" i="0" dirty="0">
              <a:solidFill>
                <a:srgbClr val="4B5550"/>
              </a:solidFill>
              <a:latin typeface="Arial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461759" y="4078223"/>
            <a:ext cx="390029" cy="384048"/>
          </a:xfrm>
          <a:prstGeom prst="ellipse">
            <a:avLst/>
          </a:prstGeom>
          <a:solidFill>
            <a:srgbClr val="D3A131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456686" y="4082662"/>
            <a:ext cx="39002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399" y="4096511"/>
            <a:ext cx="144855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143E27"/>
                </a:solidFill>
                <a:latin typeface="Arial"/>
              </a:rPr>
              <a:t>Noticias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4032" y="4066457"/>
            <a:ext cx="269305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 err="1">
                <a:solidFill>
                  <a:srgbClr val="4B5550"/>
                </a:solidFill>
                <a:latin typeface="Arial"/>
              </a:rPr>
              <a:t>publicación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→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suscriptores</a:t>
            </a:r>
            <a:endParaRPr sz="2000" b="0" i="0" dirty="0">
              <a:solidFill>
                <a:srgbClr val="4B5550"/>
              </a:solidFill>
              <a:latin typeface="Arial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61759" y="4828032"/>
            <a:ext cx="390029" cy="384048"/>
          </a:xfrm>
          <a:prstGeom prst="ellipse">
            <a:avLst/>
          </a:prstGeom>
          <a:solidFill>
            <a:srgbClr val="D3A131"/>
          </a:solidFill>
          <a:ln>
            <a:solidFill>
              <a:srgbClr val="D3A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461759" y="4848533"/>
            <a:ext cx="39002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400" y="4846320"/>
            <a:ext cx="144855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 dirty="0">
                <a:solidFill>
                  <a:srgbClr val="143E27"/>
                </a:solidFill>
                <a:latin typeface="Arial"/>
              </a:rPr>
              <a:t>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4032" y="4837862"/>
            <a:ext cx="269305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 err="1">
                <a:solidFill>
                  <a:srgbClr val="4B5550"/>
                </a:solidFill>
                <a:latin typeface="Arial"/>
              </a:rPr>
              <a:t>evento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→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registros</a:t>
            </a:r>
            <a:r>
              <a:rPr sz="2000" b="0" i="0" dirty="0">
                <a:solidFill>
                  <a:srgbClr val="4B5550"/>
                </a:solidFill>
                <a:latin typeface="Arial"/>
              </a:rPr>
              <a:t> / </a:t>
            </a:r>
            <a:r>
              <a:rPr sz="2000" b="0" i="0" dirty="0" err="1">
                <a:solidFill>
                  <a:srgbClr val="4B5550"/>
                </a:solidFill>
                <a:latin typeface="Arial"/>
              </a:rPr>
              <a:t>métricas</a:t>
            </a:r>
            <a:endParaRPr sz="2000" b="0" i="0" dirty="0">
              <a:solidFill>
                <a:srgbClr val="4B555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988666-1656-F1B7-5F9B-80536272D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" y="1002940"/>
            <a:ext cx="1014984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MX" sz="2700" b="1" dirty="0">
                <a:solidFill>
                  <a:srgbClr val="125B2D"/>
                </a:solidFill>
                <a:latin typeface="Arial"/>
              </a:rPr>
              <a:t>Resumen</a:t>
            </a:r>
            <a:endParaRPr sz="27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" y="2046584"/>
            <a:ext cx="10561320" cy="914400"/>
          </a:xfrm>
          <a:prstGeom prst="roundRect">
            <a:avLst/>
          </a:prstGeom>
          <a:solidFill>
            <a:srgbClr val="143E27"/>
          </a:solidFill>
          <a:ln>
            <a:solidFill>
              <a:srgbClr val="143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2302616"/>
            <a:ext cx="10104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SUJETO  →  NOTIFICAR  →  OBSERVADORES  →  ACTUALIZAR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3" y="3326744"/>
            <a:ext cx="296245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5B2D"/>
                </a:solidFill>
                <a:latin typeface="Arial"/>
              </a:rPr>
              <a:t>¿Qué 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6842" y="3326744"/>
            <a:ext cx="7772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4B5550"/>
                </a:solidFill>
                <a:latin typeface="Arial"/>
              </a:rPr>
              <a:t>Patrón de comportamiento basado en suscripciones.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3" y="4039976"/>
            <a:ext cx="296245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5B2D"/>
                </a:solidFill>
                <a:latin typeface="Arial"/>
              </a:rPr>
              <a:t>¿Qué resuelve?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6842" y="4039976"/>
            <a:ext cx="7772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 dirty="0" err="1">
                <a:solidFill>
                  <a:srgbClr val="4B5550"/>
                </a:solidFill>
                <a:latin typeface="Arial"/>
              </a:rPr>
              <a:t>Notificar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 a </a:t>
            </a:r>
            <a:r>
              <a:rPr sz="2400" b="0" i="0" dirty="0" err="1">
                <a:solidFill>
                  <a:srgbClr val="4B5550"/>
                </a:solidFill>
                <a:latin typeface="Arial"/>
              </a:rPr>
              <a:t>múltiples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4B5550"/>
                </a:solidFill>
                <a:latin typeface="Arial"/>
              </a:rPr>
              <a:t>objetos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 sin </a:t>
            </a:r>
            <a:r>
              <a:rPr sz="2400" b="0" i="0" dirty="0" err="1">
                <a:solidFill>
                  <a:srgbClr val="4B5550"/>
                </a:solidFill>
                <a:latin typeface="Arial"/>
              </a:rPr>
              <a:t>acoplarlos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 al </a:t>
            </a:r>
            <a:r>
              <a:rPr sz="2400" b="0" i="0" dirty="0" err="1">
                <a:solidFill>
                  <a:srgbClr val="4B5550"/>
                </a:solidFill>
                <a:latin typeface="Arial"/>
              </a:rPr>
              <a:t>Sujeto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383" y="4864269"/>
            <a:ext cx="296245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MX" sz="2000" b="1" dirty="0">
                <a:solidFill>
                  <a:srgbClr val="125B2D"/>
                </a:solidFill>
                <a:latin typeface="Arial"/>
              </a:rPr>
              <a:t>Métodos</a:t>
            </a:r>
            <a:endParaRPr sz="20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6842" y="4841606"/>
            <a:ext cx="7772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 dirty="0" err="1">
                <a:solidFill>
                  <a:srgbClr val="4B5550"/>
                </a:solidFill>
                <a:latin typeface="Arial"/>
              </a:rPr>
              <a:t>Suscribir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 · </a:t>
            </a:r>
            <a:r>
              <a:rPr sz="2400" b="0" i="0" dirty="0" err="1">
                <a:solidFill>
                  <a:srgbClr val="4B5550"/>
                </a:solidFill>
                <a:latin typeface="Arial"/>
              </a:rPr>
              <a:t>Desuscribir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 · </a:t>
            </a:r>
            <a:r>
              <a:rPr sz="2400" b="0" i="0" dirty="0" err="1">
                <a:solidFill>
                  <a:srgbClr val="4B5550"/>
                </a:solidFill>
                <a:latin typeface="Arial"/>
              </a:rPr>
              <a:t>Notificar</a:t>
            </a:r>
            <a:r>
              <a:rPr sz="2400" b="0" i="0" dirty="0">
                <a:solidFill>
                  <a:srgbClr val="4B5550"/>
                </a:solidFill>
                <a:latin typeface="Arial"/>
              </a:rPr>
              <a:t> · </a:t>
            </a:r>
            <a:r>
              <a:rPr sz="2400" b="0" i="0" dirty="0" err="1">
                <a:solidFill>
                  <a:srgbClr val="4B5550"/>
                </a:solidFill>
                <a:latin typeface="Arial"/>
              </a:rPr>
              <a:t>Actualizar</a:t>
            </a:r>
            <a:endParaRPr sz="2400" b="0" i="0" dirty="0">
              <a:solidFill>
                <a:srgbClr val="4B555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FAB360-E24A-BD6A-3822-B9DC5CCEF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57"/>
            <a:ext cx="12192000" cy="6897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3474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3A131"/>
                </a:solidFill>
                <a:latin typeface="Arial"/>
              </a:rPr>
              <a:t>13 ·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8576"/>
            <a:ext cx="101498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 dirty="0">
                <a:solidFill>
                  <a:srgbClr val="125B2D"/>
                </a:solidFill>
                <a:latin typeface="Arial"/>
              </a:rPr>
              <a:t>Fuente</a:t>
            </a:r>
            <a:endParaRPr sz="2700" b="1" i="0" dirty="0">
              <a:solidFill>
                <a:srgbClr val="125B2D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" y="2041535"/>
            <a:ext cx="10058400" cy="1841360"/>
          </a:xfrm>
          <a:prstGeom prst="roundRect">
            <a:avLst/>
          </a:prstGeom>
          <a:solidFill>
            <a:srgbClr val="F1F7F2"/>
          </a:solidFill>
          <a:ln>
            <a:solidFill>
              <a:srgbClr val="125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95097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25B2D"/>
                </a:solidFill>
                <a:latin typeface="Arial"/>
              </a:rPr>
              <a:t>Refactoring.Guru — Observer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82200"/>
            <a:ext cx="941832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143E27"/>
                </a:solidFill>
                <a:latin typeface="Arial"/>
              </a:rPr>
              <a:t>https://refactoring.guru/es/design-patterns/observer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360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603</Words>
  <Application>Microsoft Office PowerPoint</Application>
  <PresentationFormat>Panorámica</PresentationFormat>
  <Paragraphs>104</Paragraphs>
  <Slides>14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Correa Ramirez</dc:creator>
  <cp:lastModifiedBy>Simon Rendon Rios</cp:lastModifiedBy>
  <cp:revision>4</cp:revision>
  <dcterms:created xsi:type="dcterms:W3CDTF">2026-01-14T13:42:52Z</dcterms:created>
  <dcterms:modified xsi:type="dcterms:W3CDTF">2026-09-24T14:08:39Z</dcterms:modified>
</cp:coreProperties>
</file>